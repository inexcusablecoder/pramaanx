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920240" cy="11057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8961120" cy="1188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SUPERNOVA 2.0  |  STELLAR HACKATHON 2025</a:t>
            </a:r>
          </a:p>
          <a:p>
            <a:pPr>
              <a:spcBef>
                <a:spcPts val="400"/>
              </a:spcBef>
              <a:defRPr sz="3600" b="1">
                <a:solidFill>
                  <a:srgbClr val="0F172A"/>
                </a:solidFill>
                <a:latin typeface="Arial"/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05940"/>
            <a:ext cx="6217920" cy="4480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rPr lang="en-US" sz="2000" dirty="0"/>
              <a:t>• Problem Statement Title: </a:t>
            </a:r>
            <a:r>
              <a:rPr lang="en-US" sz="2000" dirty="0">
                <a:solidFill>
                  <a:srgbClr val="1E293B"/>
                </a:solidFill>
              </a:rPr>
              <a:t>Enterprise Intelligent Document Verification, Workforce and Asset Operations Platform</a:t>
            </a:r>
          </a:p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rPr lang="en-US" sz="2000" dirty="0"/>
              <a:t>• Theme: </a:t>
            </a:r>
            <a:r>
              <a:rPr lang="en-US" sz="2000" dirty="0">
                <a:solidFill>
                  <a:srgbClr val="1E293B"/>
                </a:solidFill>
              </a:rPr>
              <a:t>Enterprise Automation &amp; Digital Transformation</a:t>
            </a:r>
          </a:p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rPr lang="en-US" sz="2000" dirty="0"/>
              <a:t>• PS Category: </a:t>
            </a:r>
            <a:r>
              <a:rPr lang="en-US" sz="2000" dirty="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  <a:latin typeface="Arial"/>
              </a:defRPr>
            </a:pPr>
            <a:r>
              <a:rPr lang="en-US" sz="2000" dirty="0"/>
              <a:t>• Team Name : </a:t>
            </a:r>
            <a:r>
              <a:rPr lang="en-US" sz="2000" dirty="0">
                <a:solidFill>
                  <a:srgbClr val="1E293B"/>
                </a:solidFill>
              </a:rPr>
              <a:t>voyager 1</a:t>
            </a: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4327855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874519"/>
            <a:ext cx="37947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CORE VALUE PROPOSITION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1500" b="1" i="1">
                <a:solidFill>
                  <a:srgbClr val="0F172A"/>
                </a:solidFill>
                <a:latin typeface="Arial"/>
              </a:defRPr>
            </a:pPr>
            <a:r>
              <a:t>"Transforming Enterprise Operations Through AI-Powered Verification, Workforce Intelligence and Asset Automation"</a:t>
            </a:r>
          </a:p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Arial"/>
              </a:defRPr>
            </a:pPr>
            <a:r>
              <a:t>✓ AI Document Verification: </a:t>
            </a:r>
            <a:r>
              <a:rPr b="0">
                <a:solidFill>
                  <a:srgbClr val="1E293B"/>
                </a:solidFill>
              </a:rPr>
              <a:t>Instant OCR, forgery detection &amp; validation</a:t>
            </a:r>
          </a:p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Arial"/>
              </a:defRPr>
            </a:pPr>
            <a:r>
              <a:t>✓ Workforce Intelligence: </a:t>
            </a:r>
            <a:r>
              <a:rPr b="0">
                <a:solidFill>
                  <a:srgbClr val="1E293B"/>
                </a:solidFill>
              </a:rPr>
              <a:t>Automated onboarding, credentials &amp; compliance</a:t>
            </a:r>
          </a:p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Arial"/>
              </a:defRPr>
            </a:pPr>
            <a:r>
              <a:t>✓ Asset Telematics: </a:t>
            </a:r>
            <a:r>
              <a:rPr b="0">
                <a:solidFill>
                  <a:srgbClr val="1E293B"/>
                </a:solidFill>
              </a:rPr>
              <a:t>Real-time geo-tracking &amp; custody logs</a:t>
            </a:r>
          </a:p>
          <a:p>
            <a:pPr>
              <a:spcAft>
                <a:spcPts val="800"/>
              </a:spcAft>
              <a:defRPr sz="1200" b="1">
                <a:solidFill>
                  <a:srgbClr val="16A34A"/>
                </a:solidFill>
                <a:latin typeface="Arial"/>
              </a:defRPr>
            </a:pPr>
            <a:r>
              <a:t>✓ Enterprise Trust Engine: </a:t>
            </a:r>
            <a:r>
              <a:rPr b="0">
                <a:solidFill>
                  <a:srgbClr val="1E293B"/>
                </a:solidFill>
              </a:rPr>
              <a:t>0-100 composite risk scoring &amp; audit trails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IDEA TITLE: EnterpriseAI Ops Platform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❖ Proposed Solution: Unified AI Document Verification, Workforce &amp; Asset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SOLUTION ECOSYSTEM ARCHITECTURE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783080"/>
            <a:ext cx="2681935" cy="15087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249905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CENTRAL AI CORE</a:t>
            </a:r>
          </a:p>
          <a:p>
            <a:pPr algn="ctr">
              <a:spcBef>
                <a:spcPts val="4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• OCR &amp; NLP Extraction</a:t>
            </a:r>
            <a:br/>
            <a:r>
              <a:t>• Neural Fraud Detection</a:t>
            </a:r>
            <a:br/>
            <a:r>
              <a:t>• Enterprise Trust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783080"/>
            <a:ext cx="1554480" cy="658368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2651760" y="2011680"/>
            <a:ext cx="32004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14630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📄 Document</a:t>
            </a:r>
            <a:br/>
            <a:r>
              <a:t>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783080"/>
            <a:ext cx="1463040" cy="65836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4526280" y="2011680"/>
            <a:ext cx="201168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182880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👥 Workforce</a:t>
            </a:r>
            <a:br/>
            <a:r>
              <a:t>Lifecycle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2560320"/>
            <a:ext cx="1554480" cy="65836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3611880" y="2788920"/>
            <a:ext cx="365760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57400" y="2606040"/>
            <a:ext cx="14630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Arial"/>
              </a:defRPr>
            </a:pPr>
            <a:r>
              <a:t>📦 Asset Live</a:t>
            </a:r>
            <a:br/>
            <a:r>
              <a:t>Tracking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79792" y="2011680"/>
            <a:ext cx="228600" cy="182880"/>
          </a:xfrm>
          <a:prstGeom prst="rightArrow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0" y="1783080"/>
            <a:ext cx="1554480" cy="658368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1828800"/>
            <a:ext cx="146304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E11D48"/>
                </a:solidFill>
                <a:latin typeface="Arial"/>
              </a:defRPr>
            </a:pPr>
            <a:r>
              <a:t>🛡️ Risk Intel</a:t>
            </a:r>
            <a:br/>
            <a:r>
              <a:t>Engine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72600" y="2011680"/>
            <a:ext cx="320040" cy="1828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38360" y="1783080"/>
            <a:ext cx="1463040" cy="658368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0" y="182880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⚖️ Compliance</a:t>
            </a:r>
            <a:br/>
            <a:r>
              <a:t>Automation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479792" y="2788920"/>
            <a:ext cx="73152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0" y="2560320"/>
            <a:ext cx="1828800" cy="65836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2606040"/>
            <a:ext cx="173736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📊 Operations Command</a:t>
            </a:r>
            <a:br/>
            <a: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11880"/>
            <a:ext cx="3429000" cy="260604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20" y="3611880"/>
            <a:ext cx="342900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KEY PLATFORM FEATURES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AI-Powered Document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Employee Lifecycle Management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Asset Tracking &amp; Monitoring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Risk Intelligence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Compliance Automation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Real-Time Operations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3611880"/>
            <a:ext cx="3429000" cy="260604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379976" y="3611880"/>
            <a:ext cx="342900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62856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5803D"/>
                </a:solidFill>
                <a:latin typeface="Arial"/>
              </a:defRPr>
            </a:pPr>
            <a:r>
              <a:t>HOW IT SOLVES THE PROBLEM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Eliminates Manual Verification: </a:t>
            </a:r>
            <a:r>
              <a:rPr b="0">
                <a:solidFill>
                  <a:srgbClr val="475569"/>
                </a:solidFill>
              </a:rPr>
              <a:t>Instant OCR cuts review latency by 95%.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Detects Document Fraud: </a:t>
            </a:r>
            <a:r>
              <a:rPr b="0">
                <a:solidFill>
                  <a:srgbClr val="475569"/>
                </a:solidFill>
              </a:rPr>
              <a:t>Forensic neural inspection flags tampering.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Improves Workforce Visibility: </a:t>
            </a:r>
            <a:r>
              <a:rPr b="0">
                <a:solidFill>
                  <a:srgbClr val="475569"/>
                </a:solidFill>
              </a:rPr>
              <a:t>Live credentials &amp; dynamic compliance.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Real-Time Asset Tracking: </a:t>
            </a:r>
            <a:r>
              <a:rPr b="0">
                <a:solidFill>
                  <a:srgbClr val="475569"/>
                </a:solidFill>
              </a:rPr>
              <a:t>Geo-fencing prevents unmonitored loss.</a:t>
            </a:r>
          </a:p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Automates Compliance: </a:t>
            </a:r>
            <a:r>
              <a:rPr b="0">
                <a:solidFill>
                  <a:srgbClr val="475569"/>
                </a:solidFill>
              </a:rPr>
              <a:t>Pre-built statutory enterprise workflows.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2" y="3611880"/>
            <a:ext cx="3429000" cy="2606040"/>
          </a:xfrm>
          <a:prstGeom prst="roundRect">
            <a:avLst/>
          </a:prstGeom>
          <a:solidFill>
            <a:srgbClr val="F5F3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28432" y="3611880"/>
            <a:ext cx="3429000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1312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INNOVATION &amp; NOVELTY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AI OCR Verification Engine: </a:t>
            </a:r>
            <a:r>
              <a:rPr b="0">
                <a:solidFill>
                  <a:srgbClr val="475569"/>
                </a:solidFill>
              </a:rPr>
              <a:t>Layout-aware transformer parsing.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Fraud Detection Intelligence: </a:t>
            </a:r>
            <a:r>
              <a:rPr b="0">
                <a:solidFill>
                  <a:srgbClr val="475569"/>
                </a:solidFill>
              </a:rPr>
              <a:t>Micro-font &amp; copy-move pixel analysis.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Enterprise Trust Score: </a:t>
            </a:r>
            <a:r>
              <a:rPr b="0">
                <a:solidFill>
                  <a:srgbClr val="475569"/>
                </a:solidFill>
              </a:rPr>
              <a:t>Unified 0–100 reliability index per entity.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Predictive Risk Analytics: </a:t>
            </a:r>
            <a:r>
              <a:rPr b="0">
                <a:solidFill>
                  <a:srgbClr val="475569"/>
                </a:solidFill>
              </a:rPr>
              <a:t>Autonomous flags for license expirations.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TECHNICAL APPROACH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Architecture Flow Diagram • Enterprise Technology Stack • Operational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463040" cy="1143000"/>
          </a:xfrm>
          <a:prstGeom prst="roundRect">
            <a:avLst/>
          </a:prstGeom>
          <a:solidFill>
            <a:srgbClr val="F0F9FF"/>
          </a:solidFill>
          <a:ln w="1651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463040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STEP 01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User Portal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Web / Mobile Client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31136" y="1874519"/>
            <a:ext cx="320040" cy="20116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84643" y="1417320"/>
            <a:ext cx="1463040" cy="114300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84643" y="1417320"/>
            <a:ext cx="146304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0363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STEP 02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Document Upload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Secure API Gateway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4259" y="1874519"/>
            <a:ext cx="32004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7766" y="1417320"/>
            <a:ext cx="1463040" cy="1143000"/>
          </a:xfrm>
          <a:prstGeom prst="roundRect">
            <a:avLst/>
          </a:prstGeom>
          <a:solidFill>
            <a:srgbClr val="F5F3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7766" y="1417320"/>
            <a:ext cx="1463040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3486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7C3AED"/>
                </a:solidFill>
                <a:latin typeface="Arial"/>
              </a:defRPr>
            </a:pPr>
            <a:r>
              <a:t>STEP 03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OCR Engine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Spatial Extraction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37382" y="1874519"/>
            <a:ext cx="320040" cy="201168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90889" y="1417320"/>
            <a:ext cx="1463040" cy="1143000"/>
          </a:xfrm>
          <a:prstGeom prst="roundRect">
            <a:avLst/>
          </a:prstGeom>
          <a:solidFill>
            <a:srgbClr val="FFF1F2"/>
          </a:solidFill>
          <a:ln w="1651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90889" y="1417320"/>
            <a:ext cx="1463040" cy="822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609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STEP 04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AI Verification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Fraud &amp; Trust Score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90505" y="1874519"/>
            <a:ext cx="320040" cy="201168"/>
          </a:xfrm>
          <a:prstGeom prst="rightArrow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44012" y="1417320"/>
            <a:ext cx="1463040" cy="1143000"/>
          </a:xfrm>
          <a:prstGeom prst="roundRect">
            <a:avLst/>
          </a:prstGeom>
          <a:solidFill>
            <a:srgbClr val="FEFCE8"/>
          </a:solidFill>
          <a:ln w="1651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44012" y="1417320"/>
            <a:ext cx="1463040" cy="822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9732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STEP 05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Enterprise DB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PostgreSQL &amp; Redis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43628" y="1874519"/>
            <a:ext cx="320040" cy="20116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997135" y="1417320"/>
            <a:ext cx="1463040" cy="114300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97135" y="1417320"/>
            <a:ext cx="146304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2855" y="1536192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  <a:latin typeface="Arial"/>
              </a:defRPr>
            </a:pPr>
            <a:r>
              <a:t>STEP 06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Ops Dashboard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Telemetry &amp; Live Sync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743200"/>
            <a:ext cx="6583680" cy="347472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20" y="2743200"/>
            <a:ext cx="658368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2880360"/>
            <a:ext cx="6126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TECHNOLOGIES TO BE USED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Enterprise Technology Stack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Frontend Layer: </a:t>
            </a:r>
            <a:r>
              <a:rPr b="0">
                <a:solidFill>
                  <a:srgbClr val="1E293B"/>
                </a:solidFill>
              </a:rPr>
              <a:t>React.js, TypeScript, Tailwind CSS, Vite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Backend Layer: </a:t>
            </a:r>
            <a:r>
              <a:rPr b="0">
                <a:solidFill>
                  <a:srgbClr val="1E293B"/>
                </a:solidFill>
              </a:rPr>
              <a:t>Node.js, Express.js, REST APIs, WebSockets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Database &amp; Cache: </a:t>
            </a:r>
            <a:r>
              <a:rPr b="0">
                <a:solidFill>
                  <a:srgbClr val="1E293B"/>
                </a:solidFill>
              </a:rPr>
              <a:t>PostgreSQL (Relational ACID), Redis (High-speed cache)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AI / ML Layer: </a:t>
            </a:r>
            <a:r>
              <a:rPr b="0">
                <a:solidFill>
                  <a:srgbClr val="1E293B"/>
                </a:solidFill>
              </a:rPr>
              <a:t>Python 3.11, TensorFlow, LayoutLM, OCR Engine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Auth &amp; Security: </a:t>
            </a:r>
            <a:r>
              <a:rPr b="0">
                <a:solidFill>
                  <a:srgbClr val="1E293B"/>
                </a:solidFill>
              </a:rPr>
              <a:t>JWT, OAuth2, AES-256 Encryption, RBAC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Asset Telematics: </a:t>
            </a:r>
            <a:r>
              <a:rPr b="0">
                <a:solidFill>
                  <a:srgbClr val="1E293B"/>
                </a:solidFill>
              </a:rPr>
              <a:t>Google Maps Platform API, Geo-fencing SDK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28255" y="2743200"/>
            <a:ext cx="3931920" cy="3474720"/>
          </a:xfrm>
          <a:prstGeom prst="roundRect">
            <a:avLst/>
          </a:prstGeom>
          <a:solidFill>
            <a:srgbClr val="F0FDFA"/>
          </a:solidFill>
          <a:ln w="1651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528255" y="2743200"/>
            <a:ext cx="3931920" cy="822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6679" y="2880360"/>
            <a:ext cx="35204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METHODOLOGY &amp; PROCESS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Operational Workflow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1. Document Upload: </a:t>
            </a:r>
            <a:r>
              <a:rPr b="0">
                <a:solidFill>
                  <a:srgbClr val="475569"/>
                </a:solidFill>
              </a:rPr>
              <a:t>Multi-format ingest (PDF, PNG, JPEG)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2. OCR Extraction: </a:t>
            </a:r>
            <a:r>
              <a:rPr b="0">
                <a:solidFill>
                  <a:srgbClr val="475569"/>
                </a:solidFill>
              </a:rPr>
              <a:t>Spatial bounding box &amp; entity parsing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3. Data Validation: </a:t>
            </a:r>
            <a:r>
              <a:rPr b="0">
                <a:solidFill>
                  <a:srgbClr val="475569"/>
                </a:solidFill>
              </a:rPr>
              <a:t>Syntax &amp; database record cross-check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4. Fraud Detection: </a:t>
            </a:r>
            <a:r>
              <a:rPr b="0">
                <a:solidFill>
                  <a:srgbClr val="475569"/>
                </a:solidFill>
              </a:rPr>
              <a:t>Neural pixel &amp; metadata forensics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5. Verification Score: </a:t>
            </a:r>
            <a:r>
              <a:rPr b="0">
                <a:solidFill>
                  <a:srgbClr val="475569"/>
                </a:solidFill>
              </a:rPr>
              <a:t>Composite Trust Index (0-100)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✓ 6. Dashboard Sync: </a:t>
            </a:r>
            <a:r>
              <a:rPr b="0">
                <a:solidFill>
                  <a:srgbClr val="475569"/>
                </a:solidFill>
              </a:rPr>
              <a:t>Live status update &amp; automated alerts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Analysis of Feasibility • Potential Challenges &amp; Risks • Strategies for Overcoming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Arial"/>
              </a:defRPr>
            </a:pPr>
            <a:r>
              <a:t>FEASIBILITY ANALYSIS</a:t>
            </a:r>
          </a:p>
          <a:p>
            <a:pPr>
              <a:spcBef>
                <a:spcPts val="300"/>
              </a:spcBef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Core Feasibility &amp; Viability Drivers</a:t>
            </a:r>
          </a:p>
          <a:p>
            <a:pPr>
              <a:spcAft>
                <a:spcPts val="1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Existing OCR APIs Available: </a:t>
            </a:r>
            <a:r>
              <a:rPr b="0">
                <a:solidFill>
                  <a:srgbClr val="1E293B"/>
                </a:solidFill>
              </a:rPr>
              <a:t>Production-tested OCR models (Tesseract, Google Vision, Azure Document AI) eliminate zero-shot cold starts.</a:t>
            </a:r>
          </a:p>
          <a:p>
            <a:pPr>
              <a:spcAft>
                <a:spcPts val="1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Cloud-Ready Deployment: </a:t>
            </a:r>
            <a:r>
              <a:rPr b="0">
                <a:solidFill>
                  <a:srgbClr val="1E293B"/>
                </a:solidFill>
              </a:rPr>
              <a:t>Containerized Docker &amp; Kubernetes architecture enables seamless rollout across AWS, Azure, or hybrid clouds.</a:t>
            </a:r>
          </a:p>
          <a:p>
            <a:pPr>
              <a:spcAft>
                <a:spcPts val="1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Scalable Microservices: </a:t>
            </a:r>
            <a:r>
              <a:rPr b="0">
                <a:solidFill>
                  <a:srgbClr val="1E293B"/>
                </a:solidFill>
              </a:rPr>
              <a:t>Decoupled architecture permits independent autoscaling of verification, fraud scoring, and telemetry services.</a:t>
            </a:r>
          </a:p>
          <a:p>
            <a:pPr>
              <a:spcAft>
                <a:spcPts val="1200"/>
              </a:spcAft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Enterprise Adoption Capability: </a:t>
            </a:r>
            <a:r>
              <a:rPr b="0">
                <a:solidFill>
                  <a:srgbClr val="1E293B"/>
                </a:solidFill>
              </a:rPr>
              <a:t>Standard REST/GraphQL APIs and intuitive role-based dashboards ensure immediate adoption.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425135" cy="475488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5425135" cy="822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Arial"/>
              </a:defRPr>
            </a:pPr>
            <a:r>
              <a:t>RISKS VS MITIGATION STRATEGIES</a:t>
            </a:r>
          </a:p>
          <a:p>
            <a:pPr>
              <a:spcBef>
                <a:spcPts val="300"/>
              </a:spcBef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Challenges &amp; Engineered Solutions</a:t>
            </a:r>
          </a:p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  <a:latin typeface="Arial"/>
              </a:defRPr>
            </a:pPr>
            <a:r>
              <a:t>• Challenge: Fake Document Detection</a:t>
            </a:r>
            <a:br/>
            <a:r>
              <a:rPr b="1">
                <a:solidFill>
                  <a:srgbClr val="16A34A"/>
                </a:solidFill>
              </a:rPr>
              <a:t>  ↳ Solution: AI Fraud Detection Models — </a:t>
            </a:r>
            <a:r>
              <a:rPr b="0">
                <a:solidFill>
                  <a:srgbClr val="475569"/>
                </a:solidFill>
              </a:rPr>
              <a:t>Trained on synthetic forged sets with error-level analysis and metadata validation.</a:t>
            </a:r>
          </a:p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  <a:latin typeface="Arial"/>
              </a:defRPr>
            </a:pPr>
            <a:r>
              <a:t>• Challenge: High-Volume Processing</a:t>
            </a:r>
            <a:br/>
            <a:r>
              <a:rPr b="1">
                <a:solidFill>
                  <a:srgbClr val="16A34A"/>
                </a:solidFill>
              </a:rPr>
              <a:t>  ↳ Solution: Cloud-Native Asynchronous Queue — </a:t>
            </a:r>
            <a:r>
              <a:rPr b="0">
                <a:solidFill>
                  <a:srgbClr val="475569"/>
                </a:solidFill>
              </a:rPr>
              <a:t>Redis message queuing with horizontal autoscaling worker nodes for batch spikes.</a:t>
            </a:r>
          </a:p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  <a:latin typeface="Arial"/>
              </a:defRPr>
            </a:pPr>
            <a:r>
              <a:t>• Challenge: Data Security Requirements</a:t>
            </a:r>
            <a:br/>
            <a:r>
              <a:rPr b="1">
                <a:solidFill>
                  <a:srgbClr val="16A34A"/>
                </a:solidFill>
              </a:rPr>
              <a:t>  ↳ Solution: Encryption &amp; RBAC Security — </a:t>
            </a:r>
            <a:r>
              <a:rPr b="0">
                <a:solidFill>
                  <a:srgbClr val="475569"/>
                </a:solidFill>
              </a:rPr>
              <a:t>End-to-end AES-256 at rest, TLS 1.3 in transit, role-based access control &amp; audit trails.</a:t>
            </a:r>
          </a:p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  <a:latin typeface="Arial"/>
              </a:defRPr>
            </a:pPr>
            <a:r>
              <a:t>• Challenge: Network Latency for Assets</a:t>
            </a:r>
            <a:br/>
            <a:r>
              <a:rPr b="1">
                <a:solidFill>
                  <a:srgbClr val="16A34A"/>
                </a:solidFill>
              </a:rPr>
              <a:t>  ↳ Solution: Edge Caching &amp; GPS Telemetry — </a:t>
            </a:r>
            <a:r>
              <a:rPr b="0">
                <a:solidFill>
                  <a:srgbClr val="475569"/>
                </a:solidFill>
              </a:rPr>
              <a:t>Local GPS caching on mobile client nodes with automated batch synchronization.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Potential Impact on Target Audience • Social, Economic &amp; Operational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14600" cy="123444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1460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233172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Arial"/>
              </a:defRPr>
            </a:pPr>
            <a:r>
              <a:t>95%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Faster Verification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From 3-5 days to under 30s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417320"/>
            <a:ext cx="2514600" cy="1234440"/>
          </a:xfrm>
          <a:prstGeom prst="roundRect">
            <a:avLst/>
          </a:prstGeom>
          <a:solidFill>
            <a:srgbClr val="F0F9FF"/>
          </a:solidFill>
          <a:ln w="1778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65576" y="1417320"/>
            <a:ext cx="2514600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57016" y="1536192"/>
            <a:ext cx="233172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600" b="1">
                <a:solidFill>
                  <a:srgbClr val="0284C7"/>
                </a:solidFill>
                <a:latin typeface="Arial"/>
              </a:defRPr>
            </a:pPr>
            <a:r>
              <a:t>70%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Manual Work Reduction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Automated document ingestion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2514600" cy="123444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251460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1536192"/>
            <a:ext cx="233172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600" b="1">
                <a:solidFill>
                  <a:srgbClr val="16A34A"/>
                </a:solidFill>
                <a:latin typeface="Arial"/>
              </a:defRPr>
            </a:pPr>
            <a:r>
              <a:t>85%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Fraud Loss Mitigation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Pre-emptive neural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417320"/>
            <a:ext cx="2514600" cy="1234440"/>
          </a:xfrm>
          <a:prstGeom prst="roundRect">
            <a:avLst/>
          </a:prstGeom>
          <a:solidFill>
            <a:srgbClr val="FEFCE8"/>
          </a:solidFill>
          <a:ln w="1778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33688" y="1417320"/>
            <a:ext cx="2514600" cy="822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25128" y="1536192"/>
            <a:ext cx="233172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Arial"/>
              </a:defRPr>
            </a:pPr>
            <a:r>
              <a:t>100%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Real-Time Traceability</a:t>
            </a:r>
          </a:p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Complete asset custody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80360"/>
            <a:ext cx="3429000" cy="333756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3429000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017520"/>
            <a:ext cx="306324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OPERATIONAL BENEFITS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Workflow Efficiency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Faster Verification: Real-time verification cycles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Automated Onboarding: Frictionless employee intake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Better Workforce Visibility: Central credential index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Real-Time Asset Tracking: Live telemetry &amp; custody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Target: Enterprises, HR Departments, Logistics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2880360"/>
            <a:ext cx="3429000" cy="333756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79976" y="2880360"/>
            <a:ext cx="3429000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2856" y="3017520"/>
            <a:ext cx="306324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Arial"/>
              </a:defRPr>
            </a:pPr>
            <a:r>
              <a:t>ECONOMIC BENEFITS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Financial &amp; ROI Impact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Reduced Fraud Losses: Pre-empts financial identity theft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Lower Operational Costs: Slashes manual review overhead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Increased Productivity: Teams focus on strategic growth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Faster Processing: Accelerates commercial execution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Target: Manufacturing, Commercial Enterprise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2880360"/>
            <a:ext cx="3429000" cy="3337560"/>
          </a:xfrm>
          <a:prstGeom prst="roundRect">
            <a:avLst/>
          </a:prstGeom>
          <a:solidFill>
            <a:srgbClr val="FEFCE8"/>
          </a:solidFill>
          <a:ln w="1651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28432" y="2880360"/>
            <a:ext cx="3429000" cy="822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2" y="3017520"/>
            <a:ext cx="306324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SOCIAL &amp; GOVERNANCE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Institutional Trust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Transparency: Immutable, verifiable digital audit trails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Accountability: Tamper-proof logs across assets &amp; users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Digital Trust: Verified credentials for distributed workers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✓ Compliance Confidence: Guaranteed statutory adherence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Target: Government Agencies, Public Sector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RESEARCH AND REFERENCES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Details / Links of Reference &amp; Research Work • Academic &amp; Industry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3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THEORETICAL FOUNDATION</a:t>
            </a:r>
          </a:p>
          <a:p>
            <a:pPr>
              <a:spcBef>
                <a:spcPts val="300"/>
              </a:spcBef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Core Research Domains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OCR Technology: </a:t>
            </a:r>
            <a:r>
              <a:rPr b="0">
                <a:solidFill>
                  <a:srgbClr val="1E293B"/>
                </a:solidFill>
              </a:rPr>
              <a:t>Layout-aware transformers and bounding-box segmentation for varied document formats.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Enterprise Workforce Systems: </a:t>
            </a:r>
            <a:r>
              <a:rPr b="0">
                <a:solidFill>
                  <a:srgbClr val="1E293B"/>
                </a:solidFill>
              </a:rPr>
              <a:t>Zero-trust workforce identity models and automated lifecycle onboarding architectures.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Asset Management Platforms: </a:t>
            </a:r>
            <a:r>
              <a:rPr b="0">
                <a:solidFill>
                  <a:srgbClr val="1E293B"/>
                </a:solidFill>
              </a:rPr>
              <a:t>IoT telemetry synchronization, geo-fencing, and distributed state machine tracking.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AI Fraud Detection: </a:t>
            </a:r>
            <a:r>
              <a:rPr b="0">
                <a:solidFill>
                  <a:srgbClr val="1E293B"/>
                </a:solidFill>
              </a:rPr>
              <a:t>Neural image forensics, pixel frequency analysis, and copy-move tamper classification.</a:t>
            </a:r>
          </a:p>
          <a:p>
            <a:pPr>
              <a:spcAft>
                <a:spcPts val="8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• Digital Identity Verification: </a:t>
            </a:r>
            <a:r>
              <a:rPr b="0">
                <a:solidFill>
                  <a:srgbClr val="1E293B"/>
                </a:solidFill>
              </a:rPr>
              <a:t>NIST SP 800-63 guidelines on automated identity proofing and verification assurance.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425135" cy="4754880"/>
          </a:xfrm>
          <a:prstGeom prst="roundRect">
            <a:avLst/>
          </a:prstGeom>
          <a:solidFill>
            <a:srgbClr val="F0F9FF"/>
          </a:solidFill>
          <a:ln w="1651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5425135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INDUSTRY BENCHMARKS</a:t>
            </a:r>
          </a:p>
          <a:p>
            <a:pPr>
              <a:spcBef>
                <a:spcPts val="300"/>
              </a:spcBef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Reference Sources &amp; Technical Papers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Google Vision OCR &amp; Document AI: </a:t>
            </a:r>
            <a:r>
              <a:rPr b="0">
                <a:solidFill>
                  <a:srgbClr val="475569"/>
                </a:solidFill>
              </a:rPr>
              <a:t>High-throughput spatial OCR, key-value pair parsing &amp; entity recognition standards.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Microsoft Azure AI: </a:t>
            </a:r>
            <a:r>
              <a:rPr b="0">
                <a:solidFill>
                  <a:srgbClr val="475569"/>
                </a:solidFill>
              </a:rPr>
              <a:t>Pre-trained identity verification, invoice understanding, and security models.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IBM Intelligent Document Processing: </a:t>
            </a:r>
            <a:r>
              <a:rPr b="0">
                <a:solidFill>
                  <a:srgbClr val="475569"/>
                </a:solidFill>
              </a:rPr>
              <a:t>Enterprise automation workflows and statutory compliance orchestration.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Deloitte Workforce Transformation: </a:t>
            </a:r>
            <a:r>
              <a:rPr b="0">
                <a:solidFill>
                  <a:srgbClr val="475569"/>
                </a:solidFill>
              </a:rPr>
              <a:t>Empirical data on operational savings from automated contractor onboarding.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★ Gartner Digital Operations Research: </a:t>
            </a:r>
            <a:r>
              <a:rPr b="0">
                <a:solidFill>
                  <a:srgbClr val="475569"/>
                </a:solidFill>
              </a:rPr>
              <a:t>Industry benchmarks for continuous adaptive trust and real-time asset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2860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ellar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645920" cy="947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Future Enterprise Operations Platform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• Future Enhancements • Expected Outcomes • Strategic Roadmap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874519" cy="1188720"/>
          </a:xfrm>
          <a:prstGeom prst="roundRect">
            <a:avLst/>
          </a:prstGeom>
          <a:solidFill>
            <a:srgbClr val="F0F9FF"/>
          </a:solidFill>
          <a:ln w="1651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874519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Phase 1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Blockchain Verification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Immutable credential ledger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33471" y="1920240"/>
            <a:ext cx="256032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45053" y="1417320"/>
            <a:ext cx="1874519" cy="118872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45053" y="1417320"/>
            <a:ext cx="1874519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773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Phase 2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Enterprise AI Copilot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Natural language ops triage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7005" y="1920240"/>
            <a:ext cx="256032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8587" y="1417320"/>
            <a:ext cx="1874519" cy="1188720"/>
          </a:xfrm>
          <a:prstGeom prst="roundRect">
            <a:avLst/>
          </a:prstGeom>
          <a:solidFill>
            <a:srgbClr val="F5F3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8587" y="1417320"/>
            <a:ext cx="1874519" cy="822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04307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7C3AED"/>
                </a:solidFill>
                <a:latin typeface="Arial"/>
              </a:defRPr>
            </a:pPr>
            <a:r>
              <a:t>Phase 3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Predictive Maintenance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IoT telematics asset scoring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60539" y="1920240"/>
            <a:ext cx="256032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72121" y="1417320"/>
            <a:ext cx="1874519" cy="118872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72121" y="1417320"/>
            <a:ext cx="1874519" cy="822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17841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  <a:latin typeface="Arial"/>
              </a:defRPr>
            </a:pPr>
            <a:r>
              <a:t>Phase 4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Digital Identity Wallet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Decentralized worker credentials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74073" y="1920240"/>
            <a:ext cx="256032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85655" y="1417320"/>
            <a:ext cx="1874519" cy="1188720"/>
          </a:xfrm>
          <a:prstGeom prst="roundRect">
            <a:avLst/>
          </a:prstGeom>
          <a:solidFill>
            <a:srgbClr val="FEFCE8"/>
          </a:solidFill>
          <a:ln w="1651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85655" y="1417320"/>
            <a:ext cx="1874519" cy="822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31375" y="1536192"/>
            <a:ext cx="17830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Phase 5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Advanced Analytics</a:t>
            </a:r>
          </a:p>
          <a:p>
            <a:pPr algn="ctr">
              <a:spcBef>
                <a:spcPts val="2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Prescriptive enterprise intelligence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834640"/>
            <a:ext cx="5120640" cy="3383280"/>
          </a:xfrm>
          <a:prstGeom prst="roundRect">
            <a:avLst/>
          </a:prstGeom>
          <a:solidFill>
            <a:srgbClr val="F0F9FF"/>
          </a:solidFill>
          <a:ln w="1651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" y="2834640"/>
            <a:ext cx="5120640" cy="822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297180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EXPECTED OUTCOMES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Target Deliverables &amp; Milestones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95% Faster Verification: Instantaneous multi-tier validation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70% Reduction in Manual Work: Automated document pipelines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Improved Workforce Productivity: Rapid onboarding &amp; compliance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Enhanced Compliance Management: Real-time audit-ready logging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✓ Higher Operational Transparency: Unified asset command center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2834640"/>
            <a:ext cx="5425135" cy="338328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35040" y="2834640"/>
            <a:ext cx="5425135" cy="822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2971800"/>
            <a:ext cx="49377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FINALIST CLOSING COMMITMENT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1600" b="1" i="1">
                <a:solidFill>
                  <a:srgbClr val="0F172A"/>
                </a:solidFill>
                <a:latin typeface="Arial"/>
              </a:defRPr>
            </a:pPr>
            <a:r>
              <a:t>"Building the Future of Intelligent Enterprise Operations Through AI-Driven Verification, Workforce Intelligence and Asset Management."</a:t>
            </a:r>
          </a:p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Submitted by: Team Code Paddock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• Stellar Hackathon 2025 • Category: Software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SUPERNOVA 2.0 - Stellar Hackathon</a:t>
            </a:r>
          </a:p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1323</Words>
  <Application>Microsoft Office PowerPoint</Application>
  <PresentationFormat>Widescreen</PresentationFormat>
  <Paragraphs>184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Prashant Rampure</cp:lastModifiedBy>
  <cp:revision>2</cp:revision>
  <dcterms:created xsi:type="dcterms:W3CDTF">2013-01-27T09:14:16Z</dcterms:created>
  <dcterms:modified xsi:type="dcterms:W3CDTF">2026-09-04T09:13:35Z</dcterms:modified>
  <cp:category/>
</cp:coreProperties>
</file>